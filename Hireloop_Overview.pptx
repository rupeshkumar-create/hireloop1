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Build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ln w="25400" cap="flat">
                <a:solidFill>
                  <a:srgbClr val="F4F7FB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ln w="25400" cap="flat">
                <a:solidFill>
                  <a:srgbClr val="F4F7FB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ln w="25400" cap="flat">
                <a:solidFill>
                  <a:srgbClr val="F4F7FB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ln w="25400" cap="flat">
                <a:solidFill>
                  <a:srgbClr val="F4F7FB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Done</c:v>
                </c:pt>
                <c:pt idx="1">
                  <c:v>Improving</c:v>
                </c:pt>
                <c:pt idx="2">
                  <c:v>Pending</c:v>
                </c:pt>
                <c:pt idx="3">
                  <c:v>Planned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</c:v>
                </c:pt>
                <c:pt idx="1">
                  <c:v>5</c:v>
                </c:pt>
                <c:pt idx="2">
                  <c:v>13</c:v>
                </c:pt>
                <c:pt idx="3">
                  <c:v>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1143000"/>
            <a:ext cx="3200400" cy="3200400"/>
          </a:xfrm>
          <a:prstGeom prst="ellipse">
            <a:avLst/>
          </a:prstGeom>
          <a:ln w="25400">
            <a:solidFill>
              <a:srgbClr val="14B8A6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1508760"/>
            <a:ext cx="2468880" cy="2468880"/>
          </a:xfrm>
          <a:prstGeom prst="ellipse">
            <a:avLst/>
          </a:prstGeom>
          <a:ln w="25400">
            <a:solidFill>
              <a:srgbClr val="6366F1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1874520"/>
            <a:ext cx="1737360" cy="1737360"/>
          </a:xfrm>
          <a:prstGeom prst="ellipse">
            <a:avLst/>
          </a:prstGeom>
          <a:ln w="254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242316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946404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India-first AI recruiting platform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agents. One candidate graph. Built for the Indian job market.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4297680"/>
            <a:ext cx="292608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overview  ·  Architecture  ·  Status  ·  Scale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for team review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989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 is a two-sided, AI-run recruiting platform for India. Candidates are guided end-to-end by Aarya — an AI career partner that ingests their LinkedIn, CV and a short voice call, then surfaces real, scored job matches. Recruiters are served by Nitya, which drafts warm intros and runs their pipeline. A shared Postgres candidate graph connects both sides.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794760"/>
            <a:ext cx="2788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3794760"/>
            <a:ext cx="82296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13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Aarya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AI agent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3794760"/>
            <a:ext cx="2788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3794760"/>
            <a:ext cx="82296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3913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Nitya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AI agent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1600200"/>
            <a:ext cx="4800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03720" y="1600200"/>
            <a:ext cx="82296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65506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686800" y="1600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steps mapped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3720" y="2679192"/>
            <a:ext cx="4800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2679192"/>
            <a:ext cx="82296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73405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686800" y="267919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built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3758184"/>
            <a:ext cx="4800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3758184"/>
            <a:ext cx="82296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381304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8686800" y="3758184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03720" y="4837176"/>
            <a:ext cx="4800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4837176"/>
            <a:ext cx="82296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48920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686800" y="483717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 / APIs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two-sided marketplace, run by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474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82296" cy="4023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2105406"/>
            <a:ext cx="315468" cy="315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SIDE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002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Aarya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278892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via LinkedIn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Auto-built profile (LinkedIn + CV)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voice / text career chat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Scored, explained job matches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“Request intro”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résumé + mock interview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423160"/>
            <a:ext cx="3474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423160"/>
            <a:ext cx="82296" cy="2560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5806440" y="269748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511" y="2850551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candidate graph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526280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Postgres + pgvector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· RLS · realtime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977640" y="3703320"/>
            <a:ext cx="36576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7818120" y="3703320"/>
            <a:ext cx="36576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headEnd type="triangle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183880" y="169164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83880" y="1691640"/>
            <a:ext cx="82296" cy="4023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7"/>
          <p:cNvSpPr/>
          <p:nvPr/>
        </p:nvSpPr>
        <p:spPr>
          <a:xfrm>
            <a:off x="8458200" y="192024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366" y="2105406"/>
            <a:ext cx="315468" cy="3154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8116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SIDE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28116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Nitya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549640" y="27889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signup + role intake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Nitya generates the hiring brief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candidate search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pipeline of candidates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intros drafted + Gmail-sent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+ status handshake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agents on one LangGraph runtime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5321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82296" cy="2788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87452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047342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Aarya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2267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Candidate-facing career partner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profile_read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build_career_path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job_search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get_match_score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request_intro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save_job / direct_apply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645920"/>
            <a:ext cx="55321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9360" y="1645920"/>
            <a:ext cx="82296" cy="2788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6565392" y="18745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2047342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Nitya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360920" y="2267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&amp; hiring-manager agent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8368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629400" y="29260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candidate_lookup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draft_email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send_via_gmail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update_intro_status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ops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brief generation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4617720"/>
            <a:ext cx="11201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2920" y="4617720"/>
            <a:ext cx="82296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runtime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3152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1.x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31520" y="5394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master loop, Postgres checkpoints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47472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 · Claude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3474720" y="5394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+ tool-calling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21792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Deepgram → Sarvam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217920" y="5394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STT + TTS (Sarvam planned, Indian langs)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96112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agent_actions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961120" y="5394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→ table → Realtime UI counter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stack, by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82296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636776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6022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453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794760" y="154533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18 · TypeScript (strict) · Tailwind · Radix UI · Zustand · React-Hook-Form + Zod · Framer Motion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502920" y="230886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308860"/>
            <a:ext cx="82296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243687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560320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3454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94760" y="234543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3.12 · Pydantic v2 · asyncpg · httpx · structlog · Uvicorn · python-jose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502920" y="310896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108960"/>
            <a:ext cx="82296" cy="7132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4"/>
          <p:cNvSpPr/>
          <p:nvPr/>
        </p:nvSpPr>
        <p:spPr>
          <a:xfrm>
            <a:off x="658368" y="32369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360420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1455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Agents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3794760" y="314553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1.x · langchain-openai · OpenRouter (Claude) · Deepgram STT/TTS now → Sarvam AI planned (Indian langs)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502920" y="390906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" y="3909060"/>
            <a:ext cx="82296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19"/>
          <p:cNvSpPr/>
          <p:nvPr/>
        </p:nvSpPr>
        <p:spPr>
          <a:xfrm>
            <a:off x="658368" y="403707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160520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9456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3794760" y="394563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· pgvector (HNSW, cosine) · Row-Level Security · Realtime · Storage buckets · pg_cron</a:t>
            </a:r>
            <a:endParaRPr lang="en-US" sz="1180" dirty="0"/>
          </a:p>
        </p:txBody>
      </p:sp>
      <p:sp>
        <p:nvSpPr>
          <p:cNvPr id="28" name="Shape 22"/>
          <p:cNvSpPr/>
          <p:nvPr/>
        </p:nvSpPr>
        <p:spPr>
          <a:xfrm>
            <a:off x="502920" y="470916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02920" y="4709160"/>
            <a:ext cx="8229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4"/>
          <p:cNvSpPr/>
          <p:nvPr/>
        </p:nvSpPr>
        <p:spPr>
          <a:xfrm>
            <a:off x="658368" y="483717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960620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80160" y="47457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services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3794760" y="474573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(LinkedIn + jobs) · Affinda (résumé) · Twilio + MSG91 (OTP / SMS) · Gmail OAuth (intros) · SendGrid (email) · NeverBounce (planned)</a:t>
            </a:r>
            <a:endParaRPr lang="en-US" sz="1180" dirty="0"/>
          </a:p>
        </p:txBody>
      </p:sp>
      <p:sp>
        <p:nvSpPr>
          <p:cNvPr id="34" name="Shape 27"/>
          <p:cNvSpPr/>
          <p:nvPr/>
        </p:nvSpPr>
        <p:spPr>
          <a:xfrm>
            <a:off x="502920" y="5509260"/>
            <a:ext cx="11201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02920" y="5509260"/>
            <a:ext cx="82296" cy="7132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Shape 29"/>
          <p:cNvSpPr/>
          <p:nvPr/>
        </p:nvSpPr>
        <p:spPr>
          <a:xfrm>
            <a:off x="658368" y="563727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5760720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280160" y="55458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Hosting &amp; infra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3794760" y="554583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(app + web · edge CDN + India geo) · Supabase (Postgres · Auth · Storage · Realtime) · GitHub Actions CI/CD</a:t>
            </a:r>
            <a:endParaRPr lang="en-US" sz="1180" dirty="0"/>
          </a:p>
        </p:txBody>
      </p:sp>
      <p:sp>
        <p:nvSpPr>
          <p:cNvPr id="40" name="Text 32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requests flow,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286000" cy="1143000"/>
          </a:xfrm>
          <a:prstGeom prst="rect">
            <a:avLst/>
          </a:prstGeom>
          <a:solidFill>
            <a:srgbClr val="111C30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2286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46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2648" y="213055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 / Recruiter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 + mic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88920" y="2167128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46120" y="1600200"/>
            <a:ext cx="2286000" cy="1143000"/>
          </a:xfrm>
          <a:prstGeom prst="rect">
            <a:avLst/>
          </a:prstGeom>
          <a:solidFill>
            <a:srgbClr val="111C3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00200"/>
            <a:ext cx="2286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746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 Edge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55848" y="213055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CDN · India-only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 middleware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2167128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1600200"/>
            <a:ext cx="2651760" cy="1143000"/>
          </a:xfrm>
          <a:prstGeom prst="rect">
            <a:avLst/>
          </a:prstGeom>
          <a:solidFill>
            <a:srgbClr val="111C30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600200"/>
            <a:ext cx="265176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746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(Vercel)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9048" y="2130552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app.hireloop.in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web.hireloop.in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41080" y="2167128"/>
            <a:ext cx="45720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1600200"/>
            <a:ext cx="2606040" cy="1143000"/>
          </a:xfrm>
          <a:prstGeom prst="rect">
            <a:avLst/>
          </a:prstGeom>
          <a:solidFill>
            <a:srgbClr val="111C30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1600200"/>
            <a:ext cx="26060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7465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08008" y="213055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api.hireloop.in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 · async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396728" y="2743200"/>
            <a:ext cx="0" cy="50292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89320" y="3291840"/>
            <a:ext cx="5715000" cy="1325880"/>
          </a:xfrm>
          <a:prstGeom prst="rect">
            <a:avLst/>
          </a:prstGeom>
          <a:solidFill>
            <a:srgbClr val="111C3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3291840"/>
            <a:ext cx="5715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438144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099048" y="3822192"/>
            <a:ext cx="5495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· Auth · Storage · pgvector · RLS · Realtime · pg_cron  —  candidates · jobs · matches · intros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291840"/>
            <a:ext cx="5120640" cy="1325880"/>
          </a:xfrm>
          <a:prstGeom prst="rect">
            <a:avLst/>
          </a:prstGeom>
          <a:solidFill>
            <a:srgbClr val="111C3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291840"/>
            <a:ext cx="512064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4381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runtime (LangGraph)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12648" y="3822192"/>
            <a:ext cx="4901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Aarya + Nitya  ·  OpenRouter Claude  ·  Deepgram STT/TTS (→ Sarvam)  ·  checkpoints in Postgres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23560" y="3950208"/>
            <a:ext cx="3657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headEnd type="triangl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02920" y="4937760"/>
            <a:ext cx="11201400" cy="1005840"/>
          </a:xfrm>
          <a:prstGeom prst="rect">
            <a:avLst/>
          </a:prstGeom>
          <a:solidFill>
            <a:srgbClr val="111C3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4937760"/>
            <a:ext cx="112014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084064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APIs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12648" y="5468112"/>
            <a:ext cx="10981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Apify (LinkedIn + job scrapers)   ·   Affinda (résumé parse)   ·   Twilio + MSG91 (OTP / SMS)   ·   Gmail OAuth (intros)   ·   SendGrid (email)   ·   NeverBounce (planned)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 tables across six domains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82296" cy="2057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801368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924812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consent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recruiters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consent_log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dpdp_export_jobs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25112" y="160020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1600200"/>
            <a:ext cx="82296" cy="2057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Shape 9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1924812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2352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 profile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53712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career_paths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candidate_embeddings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voice_sessions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saved_jobs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8147304" y="160020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47304" y="1600200"/>
            <a:ext cx="82296" cy="2057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4"/>
          <p:cNvSpPr/>
          <p:nvPr/>
        </p:nvSpPr>
        <p:spPr>
          <a:xfrm>
            <a:off x="8348472" y="180136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1924812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24544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Jobs &amp; matching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375904" y="235000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companies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job_embeddings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match_scores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match_audits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job_ingest_log</a:t>
            </a:r>
            <a:endParaRPr lang="en-US" sz="1030" dirty="0"/>
          </a:p>
        </p:txBody>
      </p:sp>
      <p:sp>
        <p:nvSpPr>
          <p:cNvPr id="22" name="Shape 17"/>
          <p:cNvSpPr/>
          <p:nvPr/>
        </p:nvSpPr>
        <p:spPr>
          <a:xfrm>
            <a:off x="502920" y="3813048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" y="3813048"/>
            <a:ext cx="82296" cy="2057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19"/>
          <p:cNvSpPr/>
          <p:nvPr/>
        </p:nvSpPr>
        <p:spPr>
          <a:xfrm>
            <a:off x="704088" y="401421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4137660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4014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Intros &amp; hiring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31520" y="456285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intro_requests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hiring_managers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gmail_tokens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job_applications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placements</a:t>
            </a:r>
            <a:endParaRPr lang="en-US" sz="1030" dirty="0"/>
          </a:p>
        </p:txBody>
      </p:sp>
      <p:sp>
        <p:nvSpPr>
          <p:cNvPr id="28" name="Shape 22"/>
          <p:cNvSpPr/>
          <p:nvPr/>
        </p:nvSpPr>
        <p:spPr>
          <a:xfrm>
            <a:off x="4325112" y="3813048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25112" y="3813048"/>
            <a:ext cx="82296" cy="2057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4"/>
          <p:cNvSpPr/>
          <p:nvPr/>
        </p:nvSpPr>
        <p:spPr>
          <a:xfrm>
            <a:off x="4526280" y="401421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4137660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102352" y="4014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Comms &amp; interviews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553712" y="456285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agent_actions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mock_interviews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whatsapp_messages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tailored_resumes</a:t>
            </a:r>
            <a:endParaRPr lang="en-US" sz="1030" dirty="0"/>
          </a:p>
        </p:txBody>
      </p:sp>
      <p:sp>
        <p:nvSpPr>
          <p:cNvPr id="34" name="Shape 27"/>
          <p:cNvSpPr/>
          <p:nvPr/>
        </p:nvSpPr>
        <p:spPr>
          <a:xfrm>
            <a:off x="8147304" y="3813048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47304" y="3813048"/>
            <a:ext cx="82296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29"/>
          <p:cNvSpPr/>
          <p:nvPr/>
        </p:nvSpPr>
        <p:spPr>
          <a:xfrm>
            <a:off x="8348472" y="40142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916" y="4137660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24544" y="4014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Recruiter workspace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375904" y="4562856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role_versions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role_pipeline</a:t>
            </a:r>
            <a:endParaRPr lang="en-US" sz="103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recruiter_searches</a:t>
            </a:r>
            <a:endParaRPr lang="en-US" sz="1030" dirty="0"/>
          </a:p>
        </p:txBody>
      </p:sp>
      <p:sp>
        <p:nvSpPr>
          <p:cNvPr id="40" name="Text 32"/>
          <p:cNvSpPr/>
          <p:nvPr/>
        </p:nvSpPr>
        <p:spPr>
          <a:xfrm>
            <a:off x="502920" y="612648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SQL migrations  ·  pgvector HNSW (cosine) on every *_embedding  ·  Row-Level Security on every table  ·  soft-delete on PII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— CANDIDATE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LinkedIn click to a warm intro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0704" y="2468880"/>
            <a:ext cx="9601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48256"/>
            <a:ext cx="841248" cy="8412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217" y="2275393"/>
            <a:ext cx="386974" cy="386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9568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30175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up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74320" y="33467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OAuth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0" y="2048256"/>
            <a:ext cx="841248" cy="8412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817" y="2275393"/>
            <a:ext cx="386974" cy="3869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96896" y="19568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691640" y="30175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645920" y="33467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phone OTP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383280" y="2048256"/>
            <a:ext cx="841248" cy="8412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417" y="2275393"/>
            <a:ext cx="386974" cy="3869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68496" y="19568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063240" y="30175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017520" y="33467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+ consent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048256"/>
            <a:ext cx="841248" cy="8412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017" y="2275393"/>
            <a:ext cx="386974" cy="3869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0096" y="19568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434840" y="30175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389120" y="33467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CV parse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126480" y="2048256"/>
            <a:ext cx="841248" cy="8412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617" y="2275393"/>
            <a:ext cx="386974" cy="3869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11696" y="19568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806440" y="30175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call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760720" y="33467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with Aarya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498080" y="2048256"/>
            <a:ext cx="841248" cy="8412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5217" y="2275393"/>
            <a:ext cx="386974" cy="3869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83296" y="19568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178040" y="30175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Matches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132320" y="33467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+ explained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869680" y="2048256"/>
            <a:ext cx="841248" cy="8412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6817" y="2275393"/>
            <a:ext cx="386974" cy="38697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454896" y="19568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8549640" y="30175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intro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8503920" y="33467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10241280" y="2048256"/>
            <a:ext cx="841248" cy="8412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417" y="2275393"/>
            <a:ext cx="386974" cy="38697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826496" y="1956816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9921240" y="301752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up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875520" y="334670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CV + mock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502920" y="4297680"/>
            <a:ext cx="11201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502920" y="4297680"/>
            <a:ext cx="82296" cy="1417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7" name="Text 37"/>
          <p:cNvSpPr/>
          <p:nvPr/>
        </p:nvSpPr>
        <p:spPr>
          <a:xfrm>
            <a:off x="73152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it different</a:t>
            </a:r>
            <a:endParaRPr lang="en-US" sz="1400" dirty="0"/>
          </a:p>
        </p:txBody>
      </p:sp>
      <p:sp>
        <p:nvSpPr>
          <p:cNvPr id="48" name="Text 38"/>
          <p:cNvSpPr/>
          <p:nvPr/>
        </p:nvSpPr>
        <p:spPr>
          <a:xfrm>
            <a:off x="731520" y="48006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Zero-form onboarding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profile is built from LinkedIn + CV + voice, not typed.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6309360" y="48006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explained matches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role shows a score and why it fits, India-only.</a:t>
            </a:r>
            <a:endParaRPr lang="en-US" sz="1200" dirty="0"/>
          </a:p>
        </p:txBody>
      </p:sp>
      <p:sp>
        <p:nvSpPr>
          <p:cNvPr id="50" name="Text 40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— RECRUITER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open role to candidate intros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11580" y="2468880"/>
            <a:ext cx="9091749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2264512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93852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up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" y="3346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role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92531" y="2029968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075" y="2264512"/>
            <a:ext cx="399593" cy="3995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5179" y="193852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926771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intake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881051" y="3346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Nitya hiring brief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07823" y="2029968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366" y="2264512"/>
            <a:ext cx="399593" cy="3995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20471" y="193852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442063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396343" y="3346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candidates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323114" y="2029968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658" y="2264512"/>
            <a:ext cx="399593" cy="3995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35762" y="193852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57354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911634" y="3346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stages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838406" y="2029968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949" y="2264512"/>
            <a:ext cx="399593" cy="3995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1054" y="193852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472646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 intro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26926" y="3346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Nitya writes it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353697" y="2029968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241" y="2264512"/>
            <a:ext cx="399593" cy="3995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6345" y="193852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987937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942217" y="3346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Gmail OAuth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9868989" y="2029968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3532" y="2264512"/>
            <a:ext cx="399593" cy="39959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481637" y="193852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9503229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Inbox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9457509" y="3346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+ status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502920" y="4297680"/>
            <a:ext cx="11201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502920" y="429768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2" name="Text 33"/>
          <p:cNvSpPr/>
          <p:nvPr/>
        </p:nvSpPr>
        <p:spPr>
          <a:xfrm>
            <a:off x="7315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Recruiters are pulled in on demand</a:t>
            </a:r>
            <a:endParaRPr lang="en-US" sz="1400" dirty="0"/>
          </a:p>
        </p:txBody>
      </p:sp>
      <p:sp>
        <p:nvSpPr>
          <p:cNvPr id="43" name="Text 34"/>
          <p:cNvSpPr/>
          <p:nvPr/>
        </p:nvSpPr>
        <p:spPr>
          <a:xfrm>
            <a:off x="731520" y="47731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candidate requests an intro, the platform looks the recruiter up in our database. Already on Hireloop? They get an in-app intro request. New to us? They get a one-click email invite to sign up, see the candidate, and start the chat. The database — never agent-to-agent calls — keeps both sides in sync. No cold email, ever.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 handshake — the MVP-critical path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2103120" cy="2743200"/>
          </a:xfrm>
          <a:prstGeom prst="rect">
            <a:avLst/>
          </a:prstGeom>
          <a:solidFill>
            <a:srgbClr val="111C30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2057400"/>
            <a:ext cx="2103120" cy="8229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331720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230" y="252923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 asks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7673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fires request_intro on a scored job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69464" y="30632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770632" y="2057400"/>
            <a:ext cx="2103120" cy="2743200"/>
          </a:xfrm>
          <a:prstGeom prst="rect">
            <a:avLst/>
          </a:prstGeom>
          <a:solidFill>
            <a:srgbClr val="111C30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70632" y="2057400"/>
            <a:ext cx="210312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3456432" y="233172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942" y="2529230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62072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recruiter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907792" y="37673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our DB for the recruiter / company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37176" y="30632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5038344" y="2057400"/>
            <a:ext cx="2103120" cy="2743200"/>
          </a:xfrm>
          <a:prstGeom prst="rect">
            <a:avLst/>
          </a:prstGeom>
          <a:solidFill>
            <a:srgbClr val="111C3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38344" y="2057400"/>
            <a:ext cx="210312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6"/>
          <p:cNvSpPr/>
          <p:nvPr/>
        </p:nvSpPr>
        <p:spPr>
          <a:xfrm>
            <a:off x="5724144" y="233172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654" y="2529230"/>
            <a:ext cx="336499" cy="33649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9784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Invite or notify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175504" y="37673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email + CTA · existing → in-app request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104888" y="30632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7306056" y="2057400"/>
            <a:ext cx="2103120" cy="2743200"/>
          </a:xfrm>
          <a:prstGeom prst="rect">
            <a:avLst/>
          </a:prstGeom>
          <a:solidFill>
            <a:srgbClr val="111C3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06056" y="2057400"/>
            <a:ext cx="2103120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2"/>
          <p:cNvSpPr/>
          <p:nvPr/>
        </p:nvSpPr>
        <p:spPr>
          <a:xfrm>
            <a:off x="7991856" y="23317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366" y="2529230"/>
            <a:ext cx="336499" cy="33649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97496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Recruiter onboards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443216" y="37673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signs up, opens the candidate profile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372600" y="30632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26"/>
          <p:cNvSpPr/>
          <p:nvPr/>
        </p:nvSpPr>
        <p:spPr>
          <a:xfrm>
            <a:off x="9573768" y="2057400"/>
            <a:ext cx="2103120" cy="2743200"/>
          </a:xfrm>
          <a:prstGeom prst="rect">
            <a:avLst/>
          </a:prstGeom>
          <a:solidFill>
            <a:srgbClr val="111C3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573768" y="2057400"/>
            <a:ext cx="210312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28"/>
          <p:cNvSpPr/>
          <p:nvPr/>
        </p:nvSpPr>
        <p:spPr>
          <a:xfrm>
            <a:off x="10259568" y="23317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7078" y="2529230"/>
            <a:ext cx="336499" cy="33649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65208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+ track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9710928" y="37673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starts the chat; status syncs to DB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502920" y="521208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DB-driven — recruiters are pulled in on demand: a new recruiter gets a one-click email invite, an existing one an in-app request. No cold email, no agent-to-agent RPC.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build stands today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4937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627632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627632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steps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06440" y="1828800"/>
            <a:ext cx="5897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828800"/>
            <a:ext cx="82296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Shape 6"/>
          <p:cNvSpPr/>
          <p:nvPr/>
        </p:nvSpPr>
        <p:spPr>
          <a:xfrm>
            <a:off x="6035040" y="2130552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938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Done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226771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signup · onboarding wizard · résumé upload + parse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06440" y="2852928"/>
            <a:ext cx="5897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852928"/>
            <a:ext cx="82296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40" y="315468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9626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Improving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0" y="32918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(verify / alt) · Aarya text + voice · matching · match feed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06440" y="3877056"/>
            <a:ext cx="5897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3877056"/>
            <a:ext cx="82296" cy="868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hape 16"/>
          <p:cNvSpPr/>
          <p:nvPr/>
        </p:nvSpPr>
        <p:spPr>
          <a:xfrm>
            <a:off x="6035040" y="4178808"/>
            <a:ext cx="256032" cy="2560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3986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 Pending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0" y="4315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job ingestion (Apify ready) · S10–S21 (intros, recruiter side, admin, SEO)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4901184"/>
            <a:ext cx="5897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4901184"/>
            <a:ext cx="82296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5040" y="5202936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0" y="50109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Planned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0" y="534009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deploy (Vercel + Supabase) · S23 payments (v2)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DETAIL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status — all 23 steps, in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408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57400" y="1481328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313432" y="1408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11880" y="1481328"/>
            <a:ext cx="182880" cy="1828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3867912" y="1408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66360" y="1481328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422392" y="14081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93392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11226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" y="19933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53896" y="19933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signup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468880"/>
            <a:ext cx="7315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58775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" y="2468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53896" y="24688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— verify / alt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02920" y="2944368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944368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06324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" y="29443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53896" y="294436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wizard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502920" y="3419856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19856"/>
            <a:ext cx="7315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35387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23544" y="34198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453896" y="341985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text chat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502920" y="3895344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895344"/>
            <a:ext cx="7315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01421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923544" y="38953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53896" y="389534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voice session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02920" y="4370832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370832"/>
            <a:ext cx="73152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448970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923544" y="4370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S06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453896" y="437083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upload + parse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502920" y="4846320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4846320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" y="4965192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5" name="Text 43"/>
          <p:cNvSpPr/>
          <p:nvPr/>
        </p:nvSpPr>
        <p:spPr>
          <a:xfrm>
            <a:off x="923544" y="4846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S07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453896" y="484632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ingestion (Apify)</a:t>
            </a:r>
            <a:endParaRPr lang="en-US" sz="1060" dirty="0"/>
          </a:p>
        </p:txBody>
      </p:sp>
      <p:sp>
        <p:nvSpPr>
          <p:cNvPr id="47" name="Shape 45"/>
          <p:cNvSpPr/>
          <p:nvPr/>
        </p:nvSpPr>
        <p:spPr>
          <a:xfrm>
            <a:off x="502920" y="5321808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5321808"/>
            <a:ext cx="7315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" y="544068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923544" y="5321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S08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453896" y="532180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matching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4251960" y="1993392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51960" y="1993392"/>
            <a:ext cx="7315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Shape 52"/>
          <p:cNvSpPr/>
          <p:nvPr/>
        </p:nvSpPr>
        <p:spPr>
          <a:xfrm>
            <a:off x="4434840" y="21122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4672584" y="19933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S09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202936" y="19933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 feed UI</a:t>
            </a:r>
            <a:endParaRPr lang="en-US" sz="1060" dirty="0"/>
          </a:p>
        </p:txBody>
      </p:sp>
      <p:sp>
        <p:nvSpPr>
          <p:cNvPr id="57" name="Shape 55"/>
          <p:cNvSpPr/>
          <p:nvPr/>
        </p:nvSpPr>
        <p:spPr>
          <a:xfrm>
            <a:off x="4251960" y="2468880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51960" y="2468880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9" name="Shape 57"/>
          <p:cNvSpPr/>
          <p:nvPr/>
        </p:nvSpPr>
        <p:spPr>
          <a:xfrm>
            <a:off x="4434840" y="2587752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0" name="Text 58"/>
          <p:cNvSpPr/>
          <p:nvPr/>
        </p:nvSpPr>
        <p:spPr>
          <a:xfrm>
            <a:off x="4672584" y="2468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S10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202936" y="24688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Hiring-manager enrichment</a:t>
            </a:r>
            <a:endParaRPr lang="en-US" sz="1060" dirty="0"/>
          </a:p>
        </p:txBody>
      </p:sp>
      <p:sp>
        <p:nvSpPr>
          <p:cNvPr id="62" name="Shape 60"/>
          <p:cNvSpPr/>
          <p:nvPr/>
        </p:nvSpPr>
        <p:spPr>
          <a:xfrm>
            <a:off x="4251960" y="2944368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51960" y="2944368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4" name="Shape 62"/>
          <p:cNvSpPr/>
          <p:nvPr/>
        </p:nvSpPr>
        <p:spPr>
          <a:xfrm>
            <a:off x="4434840" y="3063240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5" name="Text 63"/>
          <p:cNvSpPr/>
          <p:nvPr/>
        </p:nvSpPr>
        <p:spPr>
          <a:xfrm>
            <a:off x="4672584" y="29443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202936" y="294436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intros</a:t>
            </a:r>
            <a:endParaRPr lang="en-US" sz="1060" dirty="0"/>
          </a:p>
        </p:txBody>
      </p:sp>
      <p:sp>
        <p:nvSpPr>
          <p:cNvPr id="67" name="Shape 65"/>
          <p:cNvSpPr/>
          <p:nvPr/>
        </p:nvSpPr>
        <p:spPr>
          <a:xfrm>
            <a:off x="4251960" y="3419856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51960" y="3419856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9" name="Shape 67"/>
          <p:cNvSpPr/>
          <p:nvPr/>
        </p:nvSpPr>
        <p:spPr>
          <a:xfrm>
            <a:off x="4434840" y="3538728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0" name="Text 68"/>
          <p:cNvSpPr/>
          <p:nvPr/>
        </p:nvSpPr>
        <p:spPr>
          <a:xfrm>
            <a:off x="4672584" y="34198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S12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202936" y="341985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inbox</a:t>
            </a:r>
            <a:endParaRPr lang="en-US" sz="1060" dirty="0"/>
          </a:p>
        </p:txBody>
      </p:sp>
      <p:sp>
        <p:nvSpPr>
          <p:cNvPr id="72" name="Shape 70"/>
          <p:cNvSpPr/>
          <p:nvPr/>
        </p:nvSpPr>
        <p:spPr>
          <a:xfrm>
            <a:off x="4251960" y="3895344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51960" y="3895344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4" name="Shape 72"/>
          <p:cNvSpPr/>
          <p:nvPr/>
        </p:nvSpPr>
        <p:spPr>
          <a:xfrm>
            <a:off x="4434840" y="4014216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5" name="Text 73"/>
          <p:cNvSpPr/>
          <p:nvPr/>
        </p:nvSpPr>
        <p:spPr>
          <a:xfrm>
            <a:off x="4672584" y="38953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S13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202936" y="389534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060" dirty="0"/>
          </a:p>
        </p:txBody>
      </p:sp>
      <p:sp>
        <p:nvSpPr>
          <p:cNvPr id="77" name="Shape 75"/>
          <p:cNvSpPr/>
          <p:nvPr/>
        </p:nvSpPr>
        <p:spPr>
          <a:xfrm>
            <a:off x="4251960" y="4370832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1960" y="4370832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9" name="Shape 77"/>
          <p:cNvSpPr/>
          <p:nvPr/>
        </p:nvSpPr>
        <p:spPr>
          <a:xfrm>
            <a:off x="4434840" y="4489704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80" name="Text 78"/>
          <p:cNvSpPr/>
          <p:nvPr/>
        </p:nvSpPr>
        <p:spPr>
          <a:xfrm>
            <a:off x="4672584" y="4370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5202936" y="437083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résumé per JD</a:t>
            </a:r>
            <a:endParaRPr lang="en-US" sz="1060" dirty="0"/>
          </a:p>
        </p:txBody>
      </p:sp>
      <p:sp>
        <p:nvSpPr>
          <p:cNvPr id="82" name="Shape 80"/>
          <p:cNvSpPr/>
          <p:nvPr/>
        </p:nvSpPr>
        <p:spPr>
          <a:xfrm>
            <a:off x="4251960" y="4846320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251960" y="4846320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4" name="Shape 82"/>
          <p:cNvSpPr/>
          <p:nvPr/>
        </p:nvSpPr>
        <p:spPr>
          <a:xfrm>
            <a:off x="4434840" y="4965192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85" name="Text 83"/>
          <p:cNvSpPr/>
          <p:nvPr/>
        </p:nvSpPr>
        <p:spPr>
          <a:xfrm>
            <a:off x="4672584" y="4846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S15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5202936" y="484632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notify</a:t>
            </a:r>
            <a:endParaRPr lang="en-US" sz="1060" dirty="0"/>
          </a:p>
        </p:txBody>
      </p:sp>
      <p:sp>
        <p:nvSpPr>
          <p:cNvPr id="87" name="Shape 85"/>
          <p:cNvSpPr/>
          <p:nvPr/>
        </p:nvSpPr>
        <p:spPr>
          <a:xfrm>
            <a:off x="4251960" y="5321808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251960" y="5321808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9" name="Shape 87"/>
          <p:cNvSpPr/>
          <p:nvPr/>
        </p:nvSpPr>
        <p:spPr>
          <a:xfrm>
            <a:off x="4434840" y="5440680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0" name="Text 88"/>
          <p:cNvSpPr/>
          <p:nvPr/>
        </p:nvSpPr>
        <p:spPr>
          <a:xfrm>
            <a:off x="4672584" y="53218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S16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5202936" y="532180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signup + roles</a:t>
            </a:r>
            <a:endParaRPr lang="en-US" sz="1060" dirty="0"/>
          </a:p>
        </p:txBody>
      </p:sp>
      <p:sp>
        <p:nvSpPr>
          <p:cNvPr id="92" name="Shape 90"/>
          <p:cNvSpPr/>
          <p:nvPr/>
        </p:nvSpPr>
        <p:spPr>
          <a:xfrm>
            <a:off x="8001000" y="1993392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01000" y="1993392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4" name="Shape 92"/>
          <p:cNvSpPr/>
          <p:nvPr/>
        </p:nvSpPr>
        <p:spPr>
          <a:xfrm>
            <a:off x="8183880" y="2112264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5" name="Text 93"/>
          <p:cNvSpPr/>
          <p:nvPr/>
        </p:nvSpPr>
        <p:spPr>
          <a:xfrm>
            <a:off x="8421624" y="19933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S17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8951976" y="19933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kanban</a:t>
            </a:r>
            <a:endParaRPr lang="en-US" sz="1060" dirty="0"/>
          </a:p>
        </p:txBody>
      </p:sp>
      <p:sp>
        <p:nvSpPr>
          <p:cNvPr id="97" name="Shape 95"/>
          <p:cNvSpPr/>
          <p:nvPr/>
        </p:nvSpPr>
        <p:spPr>
          <a:xfrm>
            <a:off x="8001000" y="2468880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01000" y="2468880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9" name="Shape 97"/>
          <p:cNvSpPr/>
          <p:nvPr/>
        </p:nvSpPr>
        <p:spPr>
          <a:xfrm>
            <a:off x="8183880" y="2587752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0" name="Text 98"/>
          <p:cNvSpPr/>
          <p:nvPr/>
        </p:nvSpPr>
        <p:spPr>
          <a:xfrm>
            <a:off x="8421624" y="2468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S18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8951976" y="246888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inbox + Nitya</a:t>
            </a:r>
            <a:endParaRPr lang="en-US" sz="1060" dirty="0"/>
          </a:p>
        </p:txBody>
      </p:sp>
      <p:sp>
        <p:nvSpPr>
          <p:cNvPr id="102" name="Shape 100"/>
          <p:cNvSpPr/>
          <p:nvPr/>
        </p:nvSpPr>
        <p:spPr>
          <a:xfrm>
            <a:off x="8001000" y="2944368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01000" y="2944368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183880" y="3063240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5" name="Text 103"/>
          <p:cNvSpPr/>
          <p:nvPr/>
        </p:nvSpPr>
        <p:spPr>
          <a:xfrm>
            <a:off x="8421624" y="29443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S19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8951976" y="2944368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+ DPDP</a:t>
            </a:r>
            <a:endParaRPr lang="en-US" sz="1060" dirty="0"/>
          </a:p>
        </p:txBody>
      </p:sp>
      <p:sp>
        <p:nvSpPr>
          <p:cNvPr id="107" name="Shape 105"/>
          <p:cNvSpPr/>
          <p:nvPr/>
        </p:nvSpPr>
        <p:spPr>
          <a:xfrm>
            <a:off x="8001000" y="3419856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001000" y="3419856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183880" y="3538728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0" name="Text 108"/>
          <p:cNvSpPr/>
          <p:nvPr/>
        </p:nvSpPr>
        <p:spPr>
          <a:xfrm>
            <a:off x="8421624" y="34198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S20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8951976" y="341985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</a:t>
            </a:r>
            <a:endParaRPr lang="en-US" sz="1060" dirty="0"/>
          </a:p>
        </p:txBody>
      </p:sp>
      <p:sp>
        <p:nvSpPr>
          <p:cNvPr id="112" name="Shape 110"/>
          <p:cNvSpPr/>
          <p:nvPr/>
        </p:nvSpPr>
        <p:spPr>
          <a:xfrm>
            <a:off x="8001000" y="3895344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001000" y="3895344"/>
            <a:ext cx="73152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183880" y="4014216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5" name="Text 113"/>
          <p:cNvSpPr/>
          <p:nvPr/>
        </p:nvSpPr>
        <p:spPr>
          <a:xfrm>
            <a:off x="8421624" y="38953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S21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8951976" y="3895344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SEO site</a:t>
            </a:r>
            <a:endParaRPr lang="en-US" sz="1060" dirty="0"/>
          </a:p>
        </p:txBody>
      </p:sp>
      <p:sp>
        <p:nvSpPr>
          <p:cNvPr id="117" name="Shape 115"/>
          <p:cNvSpPr/>
          <p:nvPr/>
        </p:nvSpPr>
        <p:spPr>
          <a:xfrm>
            <a:off x="8001000" y="4370832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001000" y="4370832"/>
            <a:ext cx="73152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8183880" y="448970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0" name="Text 118"/>
          <p:cNvSpPr/>
          <p:nvPr/>
        </p:nvSpPr>
        <p:spPr>
          <a:xfrm>
            <a:off x="8421624" y="4370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S22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8951976" y="437083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Vercel + Supabase</a:t>
            </a:r>
            <a:endParaRPr lang="en-US" sz="1060" dirty="0"/>
          </a:p>
        </p:txBody>
      </p:sp>
      <p:sp>
        <p:nvSpPr>
          <p:cNvPr id="122" name="Shape 120"/>
          <p:cNvSpPr/>
          <p:nvPr/>
        </p:nvSpPr>
        <p:spPr>
          <a:xfrm>
            <a:off x="8001000" y="4846320"/>
            <a:ext cx="3703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01000" y="4846320"/>
            <a:ext cx="73152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183880" y="496519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5" name="Text 123"/>
          <p:cNvSpPr/>
          <p:nvPr/>
        </p:nvSpPr>
        <p:spPr>
          <a:xfrm>
            <a:off x="8421624" y="4846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S23</a:t>
            </a:r>
            <a:endParaRPr lang="en-US" sz="1050" dirty="0"/>
          </a:p>
        </p:txBody>
      </p:sp>
      <p:sp>
        <p:nvSpPr>
          <p:cNvPr id="126" name="Text 124"/>
          <p:cNvSpPr/>
          <p:nvPr/>
        </p:nvSpPr>
        <p:spPr>
          <a:xfrm>
            <a:off x="8951976" y="4846320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(v2)</a:t>
            </a:r>
            <a:endParaRPr lang="en-US" sz="1060" dirty="0"/>
          </a:p>
        </p:txBody>
      </p:sp>
      <p:sp>
        <p:nvSpPr>
          <p:cNvPr id="127" name="Text 125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DETAIL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progress, pending &amp; deferred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676656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920240"/>
                <a:gridCol w="2788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S07  Job ingestion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APIFY_TOKEN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 — wiring &amp; running now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 Phone OTP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Twilio / MSG91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but flaky — verify / replace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  Gmail intros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OAuth app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app verification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S20  Transactional email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SendGrid key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S15  WhatsApp notify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MSG91 + Meta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(~2-wk template approval)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8745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0" y="1874520"/>
            <a:ext cx="82296" cy="1325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5"/>
          <p:cNvSpPr/>
          <p:nvPr/>
        </p:nvSpPr>
        <p:spPr>
          <a:xfrm>
            <a:off x="7726680" y="210312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124" y="222656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75320" y="2029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S10–S21 — Pending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726680" y="241401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enrichment · intros + inbox · mock interview · tailored résumé · recruiter signup · pipeline · Nitya inbox · admin / DPDP · SEO.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498080" y="331012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0" y="3310128"/>
            <a:ext cx="82296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0"/>
          <p:cNvSpPr/>
          <p:nvPr/>
        </p:nvSpPr>
        <p:spPr>
          <a:xfrm>
            <a:off x="7726680" y="33101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 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→ Vercel (app + web) + Supabase + CI/CD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7498080" y="3950208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0" y="3950208"/>
            <a:ext cx="82296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3"/>
          <p:cNvSpPr/>
          <p:nvPr/>
        </p:nvSpPr>
        <p:spPr>
          <a:xfrm>
            <a:off x="7726680" y="39502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 </a:t>
            </a:r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→ deferred to v2 (manual tracking)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502920" y="4572000"/>
            <a:ext cx="11201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4572000"/>
            <a:ext cx="82296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" y="4690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Keys &amp; integrations to sort before production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31520" y="50292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hand:  </a:t>
            </a:r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APIFY_TOKEN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Needed:  </a:t>
            </a:r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GOOGLE_CLIENT_ID/SECRET · SARVAM_API_KEY · SENDGRID_API_KEY · SECRET_KEY · SERVICE_SECRET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Flaky / revisit:  </a:t>
            </a:r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Twilio + MSG91 OTP (verify or replace) · MSG91 WhatsApp (Meta approval) · NeverBounce (not implemented yet)</a:t>
            </a:r>
            <a:endParaRPr lang="en-US" sz="1030" dirty="0"/>
          </a:p>
        </p:txBody>
      </p:sp>
      <p:sp>
        <p:nvSpPr>
          <p:cNvPr id="22" name="Text 18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SCALE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much load the planned setup can take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606040"/>
                <a:gridCol w="2743200"/>
                <a:gridCol w="3154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sizing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Comfortable MVP load*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bottleneck / scaling lever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app (Vercel)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+ edge CDN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Auto-scales to 100s of users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plan limits · function duration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(async)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 · async workers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~200–500 req/s I/O-bound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Horizontal: more instances behind LB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Postgres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tier + pooler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1000s light queries/s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pool size; upgrade tier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search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HNSW, cosine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 ms over 100k–1M vectors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RAM; partition by region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Aarya voice (Deepgram→Sarvam)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Pay-as-you-go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~tens of concurrent calls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STT/TTS stream concurrency quota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chat (OpenRouter)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via API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Rate-limit bound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rate limit + $ per turn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ingest (Apify)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pg_cron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Batch, off-peak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Apify compute units (not user-facing)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44068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Planning estimates for an MVP / pilot (≈ up to 1,000 active candidates, tens of concurrent voice calls). Not yet validated under load — S22 deploy pending. The Next.js app auto-scales on Vercel (serverless); the near-term limits are external-service quotas (voice STT/TTS concurrency, OpenRouter rate + cost) and the Supabase tier (connections, Realtime sockets).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LICENCES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Tools, costs &amp; renewals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12014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520440"/>
                <a:gridCol w="1828800"/>
                <a:gridCol w="1737360"/>
                <a:gridCol w="1965960"/>
              </a:tblGrid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/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Renews / expires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· Auth · Storage · Realtime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 (annual)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$55 / yr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Yearly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+ web hosting (edge CDN)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bought yet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Deepgram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STT / TTS — in use now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Pay-as-you-go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 use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AI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STT / TTS — planned (Indian langs)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Planned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bought yet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LLM (Claude) — runtime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Credits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$20 top-up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 recharge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Apify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+ job scrapers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Pay-as-you-go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$22 / 3 mo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Every 3 months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Affinda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Résumé parsing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bought yet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Twilio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OTP / SMS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bought yet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MSG91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/ WhatsApp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bought yet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NeverBounce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verification (planned)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bought yet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OAuth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 intro sending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SendGrid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 email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bought yet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(hireloop.in)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/ DNS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bought yet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(Anthropic)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/ build assistant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$20 / mo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Monthly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code editor — dev tool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$55 / yr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Yearly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spend is usage-based (OpenRouter, Deepgram → Sarvam, Apify, Twilio, MSG91). Claude + Cursor are build-time dev tools. Rows marked “Not bought yet” aren't purchased.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must-fix items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82296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9019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050085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Rotate exposed credentials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5146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credentials are currently committed inside a planning doc (PHASE_TRACKER.md). Rotate them and move every secret into Vercel / Supabase env (.env) before any deploy.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645920"/>
            <a:ext cx="82296" cy="1874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Shape 9"/>
          <p:cNvSpPr/>
          <p:nvPr/>
        </p:nvSpPr>
        <p:spPr>
          <a:xfrm>
            <a:off x="6565392" y="1901952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525" y="2050085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end-to-end testing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83680" y="25146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 steps work in dev, but the full journeys aren't validated e2e with live keys. Stand up staging and walk both journeys before launch.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502920" y="374904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749040"/>
            <a:ext cx="82296" cy="1874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4"/>
          <p:cNvSpPr/>
          <p:nvPr/>
        </p:nvSpPr>
        <p:spPr>
          <a:xfrm>
            <a:off x="758952" y="4005072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4153205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023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not started (S22)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7240" y="4617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(app + web), Supabase project hardening, and GitHub Actions CI/CD still to be provisioned and wired to the custom domains.</a:t>
            </a:r>
            <a:endParaRPr lang="en-US" sz="1130" dirty="0"/>
          </a:p>
        </p:txBody>
      </p:sp>
      <p:sp>
        <p:nvSpPr>
          <p:cNvPr id="22" name="Shape 17"/>
          <p:cNvSpPr/>
          <p:nvPr/>
        </p:nvSpPr>
        <p:spPr>
          <a:xfrm>
            <a:off x="6309360" y="374904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749040"/>
            <a:ext cx="82296" cy="1874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19"/>
          <p:cNvSpPr/>
          <p:nvPr/>
        </p:nvSpPr>
        <p:spPr>
          <a:xfrm>
            <a:off x="6565392" y="400507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525" y="4153205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4023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Flaky integrations + approvals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583680" y="4617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+ MSG91 OTP are unreliable — verify or pick an alternative. MSG91 WhatsApp needs Meta approval (~2 wks); Google OAuth needs verification. Start early.</a:t>
            </a:r>
            <a:endParaRPr lang="en-US" sz="1130" dirty="0"/>
          </a:p>
        </p:txBody>
      </p:sp>
      <p:sp>
        <p:nvSpPr>
          <p:cNvPr id="28" name="Text 22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84632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tracking in Linear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82296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408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 keys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OAuth, SendGrid, Sarvam (Apify ✓)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44952" y="219456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55848" y="1645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645920"/>
            <a:ext cx="82296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57016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test staging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57016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candidate + recruiter journeys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7880" y="219456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08776" y="1645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645920"/>
            <a:ext cx="82296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9944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(S22)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9944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Supabase + CI/CD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50808" y="219456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61704" y="16459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1704" y="1645920"/>
            <a:ext cx="82296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924458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62872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launch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62872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first candidates &amp; recruiters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703320"/>
            <a:ext cx="11201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12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703320"/>
            <a:ext cx="82296" cy="2103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4080053"/>
            <a:ext cx="252374" cy="25237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63040" y="3950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Tracking model for Linear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77240" y="45262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→ journeys.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epics — Candidate journey, Recruiter journey, and Platform &amp; Infra.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→ steps.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S-step (S01–S23) becomes one issue, labelled done / blocked-on-key / not-started / deferred.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 → the per-step checklist (test with real keys, DB check) already written in PHASE_TRACKER.md.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→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area:candidate · area:recruiter · area:infra · blocked:key for filtered views and burn-down.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0292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India-first AI recruiting   ·   Confidential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094415" y="64373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9704" y="1508760"/>
            <a:ext cx="3200400" cy="3200400"/>
          </a:xfrm>
          <a:prstGeom prst="ellipse">
            <a:avLst/>
          </a:prstGeom>
          <a:ln w="25400">
            <a:solidFill>
              <a:srgbClr val="14B8A6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5464" y="1874520"/>
            <a:ext cx="2468880" cy="2468880"/>
          </a:xfrm>
          <a:prstGeom prst="ellipse">
            <a:avLst/>
          </a:prstGeom>
          <a:ln w="25400">
            <a:solidFill>
              <a:srgbClr val="6366F1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21224" y="2240280"/>
            <a:ext cx="1737360" cy="1737360"/>
          </a:xfrm>
          <a:prstGeom prst="ellipse">
            <a:avLst/>
          </a:prstGeom>
          <a:ln w="254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HIRELOOP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AI agents. One candidate graph.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23 steps built · architecture set · intro loop + keys + deploy next.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— for internal review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Hireloop — Build Overview</dc:title>
  <dc:subject>PptxGenJS Presentation</dc:subject>
  <dc:creator>Hireloop</dc:creator>
  <cp:lastModifiedBy>Hireloop</cp:lastModifiedBy>
  <cp:revision>1</cp:revision>
  <dcterms:created xsi:type="dcterms:W3CDTF">2026-06-05T12:16:52Z</dcterms:created>
  <dcterms:modified xsi:type="dcterms:W3CDTF">2026-06-05T12:16:52Z</dcterms:modified>
</cp:coreProperties>
</file>